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122645-BB4B-4B4C-9F88-A110C5E2A02A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4C04B5-49FA-464B-B28C-574A39981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701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780B8-67C9-E467-954D-85AB6A988A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BBA783-14AF-2184-2844-FD2880AADE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58232-7D31-1536-7A05-8D1EE0C49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826E6-3C0F-4399-AA9A-79A40FB19D9B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DD5AF-43FC-FDD7-09DB-474879B7D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94ECE-9094-9176-AD3E-236A0D2F7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8F2EA-BE23-459C-AC95-6E378892C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818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088A6-8444-50AD-972A-744EE1D68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40BCD-305E-0C9C-DE05-A6EB2CBB0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62626-60EC-A64D-50CD-C4569F801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826E6-3C0F-4399-AA9A-79A40FB19D9B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72C6D-7069-8F4A-F683-44B64B137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0B8AA-CF8E-E869-7077-651FF9EC0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8F2EA-BE23-459C-AC95-6E378892C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964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ABCDD-1E34-66AA-D59B-4E5E1DC23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F32D77-13F2-F14C-CEEB-3B8370DBA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AFA83-C7FD-98F4-FF44-0A4DFB54F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826E6-3C0F-4399-AA9A-79A40FB19D9B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DC5D3-E0EB-6FE5-3C5E-618512824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DA8E2-97DA-49DA-1F52-C35D84588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8F2EA-BE23-459C-AC95-6E378892C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0511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81586-F93D-E2D5-985C-CAFB916A9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ACADA-5F8A-CA13-20D0-9B9F23510E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7EACA9-3F02-B871-1267-993FB4C3CF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A8A4D6-40E6-096A-5AB3-E91B67601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826E6-3C0F-4399-AA9A-79A40FB19D9B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BAE61D-FA26-EBC4-9FF8-0EE6A8D92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8F5B12-6F90-6F96-972A-4142EF0CF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8F2EA-BE23-459C-AC95-6E378892C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479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6100F-F9F4-914B-BDBA-81CDCF2FC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E86C2-9888-BAE3-3AB6-EEB0460A0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FE3B5D-30A3-A008-75D5-5A633A8CE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705BCA-B552-70DC-85B5-06FB532063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79909A-5A01-A950-08A2-67B59A35A4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8D06E7-C14D-DD68-0B73-114DB4896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826E6-3C0F-4399-AA9A-79A40FB19D9B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D2ADD1-1959-8359-E7D0-0B1FB0EEA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1EB29C-B9B7-FBDE-9792-A818963F7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8F2EA-BE23-459C-AC95-6E378892C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865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3527C-82DB-1056-E6D7-E4D085C69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C88344-5E40-505A-CC9B-748D395FF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826E6-3C0F-4399-AA9A-79A40FB19D9B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1C4F68-8B70-FE32-25A8-8D5EABA5E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2F4F46-E120-CAB3-4E70-7EC0F8605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8F2EA-BE23-459C-AC95-6E378892C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2476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22A0DF-2183-F15E-1A22-9AD06A251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826E6-3C0F-4399-AA9A-79A40FB19D9B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9B008A-861A-9E13-1F45-7A4E38363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D7B1CE-9725-8F38-77D8-D685A2015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8F2EA-BE23-459C-AC95-6E378892C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818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0D233-C67B-C03B-F066-614FB68BE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D1A38-9924-080D-C118-1586ECA63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95E79E-F1A0-4CDC-6760-439489FC41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87F831-2840-7012-1262-318FD6563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826E6-3C0F-4399-AA9A-79A40FB19D9B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D4F199-E1C9-929D-5983-4D396A159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8BC098-8BDA-782A-D504-8881F3BC8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8F2EA-BE23-459C-AC95-6E378892C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97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2A8C9-8E86-B91B-BB56-70E21A398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879771-D166-D5D4-63ED-51B4997428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BE1E07-ED89-5758-42F4-994287A10C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F750F8-857D-5F2C-FD39-58FF52B5E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826E6-3C0F-4399-AA9A-79A40FB19D9B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67BFF2-ADA0-5A88-DC1F-DEACFBD65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357F76-6213-F261-7A6A-6BBA8670B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8F2EA-BE23-459C-AC95-6E378892C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6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D7442-C67E-0B55-EC02-100FD6932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415C0-2997-175B-63A7-36A0707A28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808CF-FE83-DA71-32CA-D465ABD98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826E6-3C0F-4399-AA9A-79A40FB19D9B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953C2-7D80-F613-766E-1DC6263E1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4290E-7B5A-478C-0EAA-77266795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8F2EA-BE23-459C-AC95-6E378892C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081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2D10E9-5FBA-DFBE-E623-CFDC9A1C7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9009B8-24F3-55CA-80EA-76A6B589C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9EC7F-7A58-8B6F-B9F4-B76DDC9F5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826E6-3C0F-4399-AA9A-79A40FB19D9B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E6707-C4CB-0410-EB55-04D757854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D0A40-BFDF-7E07-4603-DCAAD0497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8F2EA-BE23-459C-AC95-6E378892C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405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47B7EA-9649-EABE-51FB-3930A5C7B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621726-2060-2EC4-4F27-EC76CCF45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6C70D-460F-3340-BF8B-D4ADEEC4CC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A826E6-3C0F-4399-AA9A-79A40FB19D9B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57AC5-1884-D0C6-2818-4C82310723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E1279-2D75-C703-5537-7EFB8E891D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C8F2EA-BE23-459C-AC95-6E378892C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652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C491E-C677-F964-4187-46AE8A5D0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190" y="400727"/>
            <a:ext cx="10515600" cy="1325564"/>
          </a:xfrm>
        </p:spPr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     Predicting Customer Booking </a:t>
            </a:r>
            <a:r>
              <a:rPr lang="en-IN" b="1" dirty="0" err="1">
                <a:solidFill>
                  <a:schemeClr val="accent1"/>
                </a:solidFill>
              </a:rPr>
              <a:t>Behavior</a:t>
            </a:r>
            <a:br>
              <a:rPr lang="en-IN" b="1" dirty="0">
                <a:solidFill>
                  <a:schemeClr val="accent1"/>
                </a:solidFill>
              </a:rPr>
            </a:br>
            <a:r>
              <a:rPr lang="en-IN" b="1" dirty="0">
                <a:solidFill>
                  <a:schemeClr val="accent1"/>
                </a:solidFill>
              </a:rPr>
              <a:t>                      </a:t>
            </a:r>
            <a:r>
              <a:rPr lang="en-IN" sz="2800" dirty="0"/>
              <a:t>Model Summary &amp; Key Findings</a:t>
            </a:r>
            <a:endParaRPr lang="en-IN" sz="2800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DF4D8-5D29-CF2C-C474-67B555EBB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    </a:t>
            </a:r>
            <a:r>
              <a:rPr lang="en-IN" sz="1100" b="1" dirty="0">
                <a:solidFill>
                  <a:schemeClr val="accent2">
                    <a:lumMod val="75000"/>
                  </a:schemeClr>
                </a:solidFill>
                <a:cs typeface="Arial" panose="020B0604020202020204" pitchFamily="34" charset="0"/>
              </a:rPr>
              <a:t>MODEL INFORMATION</a:t>
            </a:r>
          </a:p>
          <a:p>
            <a:pPr>
              <a:spcBef>
                <a:spcPts val="0"/>
              </a:spcBef>
            </a:pPr>
            <a:r>
              <a:rPr lang="en-IN" sz="1100" dirty="0">
                <a:cs typeface="Arial" panose="020B0604020202020204" pitchFamily="34" charset="0"/>
              </a:rPr>
              <a:t>Algorithm: Random Forest Classifier</a:t>
            </a:r>
          </a:p>
          <a:p>
            <a:pPr>
              <a:spcBef>
                <a:spcPts val="0"/>
              </a:spcBef>
            </a:pPr>
            <a:r>
              <a:rPr lang="en-IN" sz="1100" dirty="0">
                <a:cs typeface="Arial" panose="020B0604020202020204" pitchFamily="34" charset="0"/>
              </a:rPr>
              <a:t>Dataset Size: 50,000 customer booking records</a:t>
            </a:r>
          </a:p>
          <a:p>
            <a:pPr>
              <a:spcBef>
                <a:spcPts val="0"/>
              </a:spcBef>
            </a:pPr>
            <a:r>
              <a:rPr lang="en-IN" sz="1100" dirty="0">
                <a:cs typeface="Arial" panose="020B0604020202020204" pitchFamily="34" charset="0"/>
              </a:rPr>
              <a:t>Features: 14 original + engineered features (log transformations)</a:t>
            </a:r>
          </a:p>
          <a:p>
            <a:pPr>
              <a:spcBef>
                <a:spcPts val="0"/>
              </a:spcBef>
            </a:pPr>
            <a:r>
              <a:rPr lang="en-IN" sz="1100" dirty="0">
                <a:cs typeface="Arial" panose="020B0604020202020204" pitchFamily="34" charset="0"/>
              </a:rPr>
              <a:t>Training/Test Split: 80/20 with stratification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3D96326-41FC-7F99-B1C4-1F57069D7A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510795"/>
              </p:ext>
            </p:extLst>
          </p:nvPr>
        </p:nvGraphicFramePr>
        <p:xfrm>
          <a:off x="652533" y="2952520"/>
          <a:ext cx="5219457" cy="1879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9819">
                  <a:extLst>
                    <a:ext uri="{9D8B030D-6E8A-4147-A177-3AD203B41FA5}">
                      <a16:colId xmlns:a16="http://schemas.microsoft.com/office/drawing/2014/main" val="1605589987"/>
                    </a:ext>
                  </a:extLst>
                </a:gridCol>
                <a:gridCol w="1335439">
                  <a:extLst>
                    <a:ext uri="{9D8B030D-6E8A-4147-A177-3AD203B41FA5}">
                      <a16:colId xmlns:a16="http://schemas.microsoft.com/office/drawing/2014/main" val="575617355"/>
                    </a:ext>
                  </a:extLst>
                </a:gridCol>
                <a:gridCol w="2144199">
                  <a:extLst>
                    <a:ext uri="{9D8B030D-6E8A-4147-A177-3AD203B41FA5}">
                      <a16:colId xmlns:a16="http://schemas.microsoft.com/office/drawing/2014/main" val="1392743078"/>
                    </a:ext>
                  </a:extLst>
                </a:gridCol>
              </a:tblGrid>
              <a:tr h="334098">
                <a:tc>
                  <a:txBody>
                    <a:bodyPr/>
                    <a:lstStyle/>
                    <a:p>
                      <a:pPr algn="ctr"/>
                      <a:r>
                        <a:rPr lang="en-IN" sz="1000" b="1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 dirty="0"/>
                        <a:t>INTERPRETATION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227924"/>
                  </a:ext>
                </a:extLst>
              </a:tr>
              <a:tr h="386428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Overall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Strong overall performance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603482"/>
                  </a:ext>
                </a:extLst>
              </a:tr>
              <a:tr h="386428">
                <a:tc>
                  <a:txBody>
                    <a:bodyPr/>
                    <a:lstStyle/>
                    <a:p>
                      <a:pPr algn="ctr"/>
                      <a:r>
                        <a:rPr lang="en-IN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Precision (Booked)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0.63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63% of predicted bookers are correct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3255569"/>
                  </a:ext>
                </a:extLst>
              </a:tr>
              <a:tr h="386428">
                <a:tc>
                  <a:txBody>
                    <a:bodyPr/>
                    <a:lstStyle/>
                    <a:p>
                      <a:pPr algn="ctr"/>
                      <a:r>
                        <a:rPr lang="en-IN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Recall (Booked)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Only 9% of actual bookers captured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6499212"/>
                  </a:ext>
                </a:extLst>
              </a:tr>
              <a:tr h="386428">
                <a:tc>
                  <a:txBody>
                    <a:bodyPr/>
                    <a:lstStyle/>
                    <a:p>
                      <a:pPr algn="ctr"/>
                      <a:r>
                        <a:rPr lang="en-IN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F1-Score (Booked) 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 due to recall issue 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35361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510E612-21DB-2500-BA0E-5A78F834133E}"/>
              </a:ext>
            </a:extLst>
          </p:cNvPr>
          <p:cNvSpPr txBox="1"/>
          <p:nvPr/>
        </p:nvSpPr>
        <p:spPr>
          <a:xfrm>
            <a:off x="783709" y="4832330"/>
            <a:ext cx="52194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accent2">
                    <a:lumMod val="75000"/>
                  </a:schemeClr>
                </a:solidFill>
              </a:rPr>
              <a:t>    CONFUSION MATRIX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Predicted: No Predicted: Yes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Actual: No 8,422 82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Actual: Yes 1,359 137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accent6"/>
                </a:solidFill>
              </a:rPr>
              <a:t>✓</a:t>
            </a:r>
            <a:r>
              <a:rPr lang="en-US" sz="1000" dirty="0"/>
              <a:t> Correctly identified non-bookers: 8,422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EE0000"/>
                </a:solidFill>
              </a:rPr>
              <a:t>✗</a:t>
            </a:r>
            <a:r>
              <a:rPr lang="en-US" sz="1000" dirty="0"/>
              <a:t> Missed actual bookers: 1,359 (major issue)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E48605-3772-E50C-A201-E03AA4E068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834" y="1564395"/>
            <a:ext cx="5219457" cy="25966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96093CB-0E99-92E6-65CD-462E514CC578}"/>
              </a:ext>
            </a:extLst>
          </p:cNvPr>
          <p:cNvSpPr txBox="1"/>
          <p:nvPr/>
        </p:nvSpPr>
        <p:spPr>
          <a:xfrm>
            <a:off x="5989133" y="4237971"/>
            <a:ext cx="36987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accent2">
                    <a:lumMod val="75000"/>
                  </a:schemeClr>
                </a:solidFill>
              </a:rPr>
              <a:t>KEY FINDINGS: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Top 3 Predictive Features: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Purchase Lead Time (Log) - Importance: 0.133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Purchase Lead Time (Raw) - Importance: 0.131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Route Frequency - Importance: 0.124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Model Performance: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Excellent at identifying non-bookers (99% recall)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Poor at capturing actual bookers (9% recall)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Class imbalance issue: 85% non-bookers vs 15% bookers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Business Insight: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When customers book matters more than who they are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Early lead identification is critical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2ADA48-E87F-E280-696C-A272ED3CF3EC}"/>
              </a:ext>
            </a:extLst>
          </p:cNvPr>
          <p:cNvSpPr txBox="1"/>
          <p:nvPr/>
        </p:nvSpPr>
        <p:spPr>
          <a:xfrm>
            <a:off x="9805010" y="4161026"/>
            <a:ext cx="2245475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accent2">
                    <a:lumMod val="75000"/>
                  </a:schemeClr>
                </a:solidFill>
              </a:rPr>
              <a:t>RECOMMENDATIONS: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Use model to reduce marketing spend on unlikely customers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 Focus on timing-based targeting (purchase lead time is key)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 Improve model: Apply data balancing (SMOTE), adjust decision threshold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 Future testing: Try </a:t>
            </a:r>
            <a:r>
              <a:rPr lang="en-US" sz="1000" dirty="0" err="1"/>
              <a:t>XGBoost</a:t>
            </a:r>
            <a:r>
              <a:rPr lang="en-US" sz="1000" dirty="0"/>
              <a:t> or </a:t>
            </a:r>
            <a:r>
              <a:rPr lang="en-US" sz="1000" dirty="0" err="1"/>
              <a:t>LightGBM</a:t>
            </a:r>
            <a:r>
              <a:rPr lang="en-US" sz="1000" dirty="0"/>
              <a:t> for better recall on bookers</a:t>
            </a:r>
          </a:p>
          <a:p>
            <a:endParaRPr lang="en-US" sz="1000" dirty="0"/>
          </a:p>
          <a:p>
            <a:endParaRPr lang="en-IN" sz="1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5F1014-F579-72BB-7FB2-33BF70F9FEDF}"/>
              </a:ext>
            </a:extLst>
          </p:cNvPr>
          <p:cNvSpPr txBox="1"/>
          <p:nvPr/>
        </p:nvSpPr>
        <p:spPr>
          <a:xfrm>
            <a:off x="-1" y="112002"/>
            <a:ext cx="12192001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                             A Random Forest model trained on 50,000 customer booking records achieved 86% accuracy. The model excels at identifying non-bookers but struggles with actual bookers due to class imbalance.</a:t>
            </a:r>
            <a:endParaRPr lang="en-IN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624C94-0137-0AA5-4B55-0E2D68C1D807}"/>
              </a:ext>
            </a:extLst>
          </p:cNvPr>
          <p:cNvSpPr txBox="1"/>
          <p:nvPr/>
        </p:nvSpPr>
        <p:spPr>
          <a:xfrm>
            <a:off x="936171" y="5847993"/>
            <a:ext cx="4136572" cy="646331"/>
          </a:xfrm>
          <a:prstGeom prst="rect">
            <a:avLst/>
          </a:prstGeom>
          <a:noFill/>
          <a:ln w="6350">
            <a:gradFill>
              <a:gsLst>
                <a:gs pos="0">
                  <a:srgbClr val="00206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IN" sz="900" dirty="0"/>
              <a:t>CROSS-VALIDATION RESULTS (5-Fold):</a:t>
            </a:r>
            <a:br>
              <a:rPr lang="en-IN" sz="900" dirty="0"/>
            </a:br>
            <a:r>
              <a:rPr lang="en-IN" sz="900" dirty="0"/>
              <a:t>Fold 1: 0.8620 | Fold 2: 0.8610 | Fold 3: 0.8605 | Fold 4: 0.8615 | Fold 5: 0.8625</a:t>
            </a:r>
            <a:br>
              <a:rPr lang="en-IN" sz="900" dirty="0"/>
            </a:br>
            <a:r>
              <a:rPr lang="en-IN" sz="900" dirty="0"/>
              <a:t>Mean CV Accuracy: 0.8615 (±0.0007)</a:t>
            </a:r>
            <a:br>
              <a:rPr lang="en-IN" sz="900" dirty="0"/>
            </a:br>
            <a:r>
              <a:rPr lang="en-IN" sz="900" dirty="0"/>
              <a:t>→ Model performs consistently across all folds (no overfitting detected)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17D8EFE3-9DBE-81EB-46D7-59E26D310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707571" y="6494324"/>
            <a:ext cx="12997542" cy="363676"/>
          </a:xfrm>
        </p:spPr>
        <p:txBody>
          <a:bodyPr/>
          <a:lstStyle/>
          <a:p>
            <a:r>
              <a:rPr lang="en-IN" dirty="0"/>
              <a:t>Prepared by: VEMAPURAM SANJEEVI SAI TEJESWAR REDDY | Date: November 13, 2025 | Project: Customer Booking Prediction Analysis</a:t>
            </a:r>
          </a:p>
        </p:txBody>
      </p:sp>
    </p:spTree>
    <p:extLst>
      <p:ext uri="{BB962C8B-B14F-4D97-AF65-F5344CB8AC3E}">
        <p14:creationId xmlns:p14="http://schemas.microsoft.com/office/powerpoint/2010/main" val="2559014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364</Words>
  <Application>Microsoft Office PowerPoint</Application>
  <PresentationFormat>Widescreen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     Predicting Customer Booking Behavior                       Model Summary &amp; Key Findings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tejeswar reddy</dc:creator>
  <cp:lastModifiedBy>sai tejeswar reddy</cp:lastModifiedBy>
  <cp:revision>2</cp:revision>
  <dcterms:created xsi:type="dcterms:W3CDTF">2025-11-13T09:09:34Z</dcterms:created>
  <dcterms:modified xsi:type="dcterms:W3CDTF">2025-11-13T09:38:55Z</dcterms:modified>
</cp:coreProperties>
</file>